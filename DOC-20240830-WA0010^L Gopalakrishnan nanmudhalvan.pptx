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9" r:id="rId9"/>
    <p:sldId id="263" r:id="rId10"/>
    <p:sldId id="264" r:id="rId11"/>
    <p:sldId id="265" r:id="rId12"/>
    <p:sldId id="268"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pala Krishna" initials="GK" lastIdx="1" clrIdx="0">
    <p:extLst>
      <p:ext uri="{19B8F6BF-5375-455C-9EA6-DF929625EA0E}">
        <p15:presenceInfo xmlns:p15="http://schemas.microsoft.com/office/powerpoint/2012/main" userId="1042632b7ad90c4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09-09-2024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Layout" Target="../slideLayouts/slideLayout4.xml" /><Relationship Id="rId4" Type="http://schemas.openxmlformats.org/officeDocument/2006/relationships/image" Target="../media/image4.jp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6.png"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8.jp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4.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828675" y="19665"/>
            <a:ext cx="9982200" cy="1001556"/>
          </a:xfrm>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0" name="TextBox 9">
            <a:extLst>
              <a:ext uri="{FF2B5EF4-FFF2-40B4-BE49-F238E27FC236}">
                <a16:creationId xmlns:a16="http://schemas.microsoft.com/office/drawing/2014/main" id="{C95D441C-9DED-51CA-C162-E0ECBDC1D2F7}"/>
              </a:ext>
            </a:extLst>
          </p:cNvPr>
          <p:cNvSpPr txBox="1"/>
          <p:nvPr/>
        </p:nvSpPr>
        <p:spPr>
          <a:xfrm>
            <a:off x="2554542" y="3314150"/>
            <a:ext cx="8610600" cy="1938992"/>
          </a:xfrm>
          <a:prstGeom prst="rect">
            <a:avLst/>
          </a:prstGeom>
          <a:noFill/>
        </p:spPr>
        <p:txBody>
          <a:bodyPr wrap="square" rtlCol="0">
            <a:spAutoFit/>
          </a:bodyPr>
          <a:lstStyle/>
          <a:p>
            <a:r>
              <a:rPr lang="en-US" sz="2400"/>
              <a:t>STUDENT NAME:</a:t>
            </a:r>
            <a:r>
              <a:rPr lang="en-GB" sz="2400"/>
              <a:t> Gopalakrishnan K</a:t>
            </a:r>
            <a:endParaRPr lang="en-US" sz="2400" dirty="0"/>
          </a:p>
          <a:p>
            <a:r>
              <a:rPr lang="en-US" sz="2400" dirty="0"/>
              <a:t>REGISTER NO:</a:t>
            </a:r>
            <a:r>
              <a:rPr lang="en-GB" sz="2400" dirty="0"/>
              <a:t> 6583B232267E34B8FAA4F08DC9B567B9</a:t>
            </a:r>
            <a:endParaRPr lang="en-US" sz="2400" dirty="0"/>
          </a:p>
          <a:p>
            <a:r>
              <a:rPr lang="en-US" sz="2400" dirty="0"/>
              <a:t>DEPARTMENT:</a:t>
            </a:r>
            <a:r>
              <a:rPr lang="en-GB" sz="2400" dirty="0"/>
              <a:t> Bank Management </a:t>
            </a:r>
            <a:endParaRPr lang="en-US" sz="2400" dirty="0"/>
          </a:p>
          <a:p>
            <a:r>
              <a:rPr lang="en-US" sz="2400" dirty="0"/>
              <a:t>COLLEGE</a:t>
            </a:r>
            <a:r>
              <a:rPr lang="en-GB" sz="2400" dirty="0"/>
              <a:t>: TAGORE COLLEGE OF ARTS &amp; SCIENCE  </a:t>
            </a:r>
            <a:endParaRPr lang="en-US" sz="2400" dirty="0"/>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3" name="TextBox 22">
            <a:extLst>
              <a:ext uri="{FF2B5EF4-FFF2-40B4-BE49-F238E27FC236}">
                <a16:creationId xmlns:a16="http://schemas.microsoft.com/office/drawing/2014/main" id="{F691EEC8-E83B-8506-163B-F39E906CCC0A}"/>
              </a:ext>
            </a:extLst>
          </p:cNvPr>
          <p:cNvSpPr txBox="1"/>
          <p:nvPr/>
        </p:nvSpPr>
        <p:spPr>
          <a:xfrm>
            <a:off x="1217522" y="2123271"/>
            <a:ext cx="8593228" cy="1446550"/>
          </a:xfrm>
          <a:prstGeom prst="rect">
            <a:avLst/>
          </a:prstGeom>
          <a:noFill/>
        </p:spPr>
        <p:txBody>
          <a:bodyPr wrap="square" rtlCol="0">
            <a:spAutoFit/>
          </a:bodyPr>
          <a:lstStyle/>
          <a:p>
            <a:r>
              <a:rPr lang="en-US" sz="4400" b="1" dirty="0">
                <a:solidFill>
                  <a:srgbClr val="0F0F0F"/>
                </a:solidFill>
                <a:latin typeface="Times New Roman" panose="02020603050405020304" pitchFamily="18" charset="0"/>
                <a:cs typeface="Times New Roman" panose="02020603050405020304" pitchFamily="18" charset="0"/>
              </a:rPr>
              <a:t>Employee Performance Analysis using Excel</a:t>
            </a:r>
            <a:endParaRPr lang="en-IN" sz="28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401205"/>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Our Solution and Proposition</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Dataset Description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Modelling Approach</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Discussion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TextBox 10">
            <a:extLst>
              <a:ext uri="{FF2B5EF4-FFF2-40B4-BE49-F238E27FC236}">
                <a16:creationId xmlns:a16="http://schemas.microsoft.com/office/drawing/2014/main" id="{6549EB9C-0D2D-BFFA-5DE6-15AF4074D2D4}"/>
              </a:ext>
            </a:extLst>
          </p:cNvPr>
          <p:cNvSpPr txBox="1"/>
          <p:nvPr/>
        </p:nvSpPr>
        <p:spPr>
          <a:xfrm>
            <a:off x="676275" y="1419135"/>
            <a:ext cx="5636895" cy="1200329"/>
          </a:xfrm>
          <a:prstGeom prst="rect">
            <a:avLst/>
          </a:prstGeom>
          <a:noFill/>
        </p:spPr>
        <p:txBody>
          <a:bodyPr wrap="square">
            <a:spAutoFit/>
          </a:bodyPr>
          <a:lstStyle/>
          <a:p>
            <a:r>
              <a:rPr lang="en-GB" i="1"/>
              <a:t>A problem statement is a clear and concise description of a problem or opportunity that needs to be addressed. It’s often used in business, research, or project management to define the issue and guide the solution-finding process.</a:t>
            </a:r>
            <a:endParaRPr lang="en-US" i="1"/>
          </a:p>
        </p:txBody>
      </p:sp>
      <p:sp>
        <p:nvSpPr>
          <p:cNvPr id="15" name="TextBox 14">
            <a:extLst>
              <a:ext uri="{FF2B5EF4-FFF2-40B4-BE49-F238E27FC236}">
                <a16:creationId xmlns:a16="http://schemas.microsoft.com/office/drawing/2014/main" id="{C813C470-82D0-E013-5D35-72D2BA1130ED}"/>
              </a:ext>
            </a:extLst>
          </p:cNvPr>
          <p:cNvSpPr txBox="1"/>
          <p:nvPr/>
        </p:nvSpPr>
        <p:spPr>
          <a:xfrm>
            <a:off x="676275" y="3059668"/>
            <a:ext cx="6107206" cy="369332"/>
          </a:xfrm>
          <a:prstGeom prst="rect">
            <a:avLst/>
          </a:prstGeom>
          <a:noFill/>
        </p:spPr>
        <p:txBody>
          <a:bodyPr wrap="square">
            <a:spAutoFit/>
          </a:bodyPr>
          <a:lstStyle/>
          <a:p>
            <a:r>
              <a:rPr lang="en-US" b="1"/>
              <a:t>EXAMPLE OF A PROBLEM STATEMENT</a:t>
            </a:r>
          </a:p>
        </p:txBody>
      </p:sp>
      <p:sp>
        <p:nvSpPr>
          <p:cNvPr id="17" name="TextBox 16">
            <a:extLst>
              <a:ext uri="{FF2B5EF4-FFF2-40B4-BE49-F238E27FC236}">
                <a16:creationId xmlns:a16="http://schemas.microsoft.com/office/drawing/2014/main" id="{6723193F-D250-2472-DE56-45FC568760A8}"/>
              </a:ext>
            </a:extLst>
          </p:cNvPr>
          <p:cNvSpPr txBox="1"/>
          <p:nvPr/>
        </p:nvSpPr>
        <p:spPr>
          <a:xfrm>
            <a:off x="660119" y="3580447"/>
            <a:ext cx="6107206" cy="1477328"/>
          </a:xfrm>
          <a:prstGeom prst="rect">
            <a:avLst/>
          </a:prstGeom>
          <a:noFill/>
        </p:spPr>
        <p:txBody>
          <a:bodyPr wrap="square">
            <a:spAutoFit/>
          </a:bodyPr>
          <a:lstStyle/>
          <a:p>
            <a:r>
              <a:rPr lang="en-US"/>
              <a:t>"The current customer complaint resolution process is taking an average of 10 days, leading to a high volume of frustrated customers and a negative impact on our brand reputation. We need to reduce the resolution time to 3 days while maintaining a high level of customer satisfaction."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2" name="TextBox 11">
            <a:extLst>
              <a:ext uri="{FF2B5EF4-FFF2-40B4-BE49-F238E27FC236}">
                <a16:creationId xmlns:a16="http://schemas.microsoft.com/office/drawing/2014/main" id="{859851C2-1616-A59B-0D94-5E02C747750C}"/>
              </a:ext>
            </a:extLst>
          </p:cNvPr>
          <p:cNvSpPr txBox="1"/>
          <p:nvPr/>
        </p:nvSpPr>
        <p:spPr>
          <a:xfrm>
            <a:off x="678796" y="1857375"/>
            <a:ext cx="6107206" cy="1200329"/>
          </a:xfrm>
          <a:prstGeom prst="rect">
            <a:avLst/>
          </a:prstGeom>
          <a:noFill/>
        </p:spPr>
        <p:txBody>
          <a:bodyPr wrap="square">
            <a:spAutoFit/>
          </a:bodyPr>
          <a:lstStyle/>
          <a:p>
            <a:r>
              <a:rPr lang="en-US"/>
              <a:t>A project overview is a high-level summary of a project, including its objectives, scope, timeline, and key stakeholders. It provides a brief overview of the project's goals, deliverables, and overall approach.</a:t>
            </a:r>
          </a:p>
        </p:txBody>
      </p:sp>
      <p:sp>
        <p:nvSpPr>
          <p:cNvPr id="18" name="TextBox 17">
            <a:extLst>
              <a:ext uri="{FF2B5EF4-FFF2-40B4-BE49-F238E27FC236}">
                <a16:creationId xmlns:a16="http://schemas.microsoft.com/office/drawing/2014/main" id="{0E966FA7-8145-6AF4-9E08-70E418F8E872}"/>
              </a:ext>
            </a:extLst>
          </p:cNvPr>
          <p:cNvSpPr txBox="1"/>
          <p:nvPr/>
        </p:nvSpPr>
        <p:spPr>
          <a:xfrm>
            <a:off x="739775" y="3411714"/>
            <a:ext cx="6107206" cy="369332"/>
          </a:xfrm>
          <a:prstGeom prst="rect">
            <a:avLst/>
          </a:prstGeom>
          <a:noFill/>
        </p:spPr>
        <p:txBody>
          <a:bodyPr wrap="square">
            <a:spAutoFit/>
          </a:bodyPr>
          <a:lstStyle/>
          <a:p>
            <a:r>
              <a:rPr lang="en-GB" b="1"/>
              <a:t>A TYPICAL PROJECT OVERVIEW SHOULD INCLUDE:</a:t>
            </a:r>
            <a:endParaRPr lang="en-US" b="1"/>
          </a:p>
        </p:txBody>
      </p:sp>
      <p:sp>
        <p:nvSpPr>
          <p:cNvPr id="22" name="TextBox 21">
            <a:extLst>
              <a:ext uri="{FF2B5EF4-FFF2-40B4-BE49-F238E27FC236}">
                <a16:creationId xmlns:a16="http://schemas.microsoft.com/office/drawing/2014/main" id="{94AA0ACF-ABA2-39C7-53FB-D27CDBAA893D}"/>
              </a:ext>
            </a:extLst>
          </p:cNvPr>
          <p:cNvSpPr txBox="1"/>
          <p:nvPr/>
        </p:nvSpPr>
        <p:spPr>
          <a:xfrm>
            <a:off x="482508" y="3846469"/>
            <a:ext cx="6102536" cy="369332"/>
          </a:xfrm>
          <a:prstGeom prst="rect">
            <a:avLst/>
          </a:prstGeom>
          <a:noFill/>
        </p:spPr>
        <p:txBody>
          <a:bodyPr wrap="square">
            <a:spAutoFit/>
          </a:bodyPr>
          <a:lstStyle/>
          <a:p>
            <a:r>
              <a:rPr lang="en-US"/>
              <a:t>1. Project title and description</a:t>
            </a:r>
          </a:p>
        </p:txBody>
      </p:sp>
      <p:sp>
        <p:nvSpPr>
          <p:cNvPr id="24" name="TextBox 23">
            <a:extLst>
              <a:ext uri="{FF2B5EF4-FFF2-40B4-BE49-F238E27FC236}">
                <a16:creationId xmlns:a16="http://schemas.microsoft.com/office/drawing/2014/main" id="{0BE854B0-AF1B-F38B-77DD-D66AEFDF3A0D}"/>
              </a:ext>
            </a:extLst>
          </p:cNvPr>
          <p:cNvSpPr txBox="1"/>
          <p:nvPr/>
        </p:nvSpPr>
        <p:spPr>
          <a:xfrm>
            <a:off x="482508" y="4136860"/>
            <a:ext cx="6102536" cy="369332"/>
          </a:xfrm>
          <a:prstGeom prst="rect">
            <a:avLst/>
          </a:prstGeom>
          <a:noFill/>
        </p:spPr>
        <p:txBody>
          <a:bodyPr wrap="square">
            <a:spAutoFit/>
          </a:bodyPr>
          <a:lstStyle/>
          <a:p>
            <a:r>
              <a:rPr lang="en-US"/>
              <a:t>2. Objectives and goals</a:t>
            </a:r>
          </a:p>
        </p:txBody>
      </p:sp>
      <p:sp>
        <p:nvSpPr>
          <p:cNvPr id="26" name="TextBox 25">
            <a:extLst>
              <a:ext uri="{FF2B5EF4-FFF2-40B4-BE49-F238E27FC236}">
                <a16:creationId xmlns:a16="http://schemas.microsoft.com/office/drawing/2014/main" id="{83193B56-5985-7048-2DDA-EAF5A37ACAF9}"/>
              </a:ext>
            </a:extLst>
          </p:cNvPr>
          <p:cNvSpPr txBox="1"/>
          <p:nvPr/>
        </p:nvSpPr>
        <p:spPr>
          <a:xfrm>
            <a:off x="482508" y="4392355"/>
            <a:ext cx="6102536" cy="369332"/>
          </a:xfrm>
          <a:prstGeom prst="rect">
            <a:avLst/>
          </a:prstGeom>
          <a:noFill/>
        </p:spPr>
        <p:txBody>
          <a:bodyPr wrap="square">
            <a:spAutoFit/>
          </a:bodyPr>
          <a:lstStyle/>
          <a:p>
            <a:r>
              <a:rPr lang="en-GB"/>
              <a:t>3</a:t>
            </a:r>
            <a:r>
              <a:rPr lang="en-US"/>
              <a:t>. Budget and resources</a:t>
            </a:r>
          </a:p>
        </p:txBody>
      </p:sp>
      <p:sp>
        <p:nvSpPr>
          <p:cNvPr id="28" name="TextBox 27">
            <a:extLst>
              <a:ext uri="{FF2B5EF4-FFF2-40B4-BE49-F238E27FC236}">
                <a16:creationId xmlns:a16="http://schemas.microsoft.com/office/drawing/2014/main" id="{B8901E35-D7C9-63BF-F03E-B4D15592D58C}"/>
              </a:ext>
            </a:extLst>
          </p:cNvPr>
          <p:cNvSpPr txBox="1"/>
          <p:nvPr/>
        </p:nvSpPr>
        <p:spPr>
          <a:xfrm>
            <a:off x="482508" y="4635234"/>
            <a:ext cx="6102536" cy="369332"/>
          </a:xfrm>
          <a:prstGeom prst="rect">
            <a:avLst/>
          </a:prstGeom>
          <a:noFill/>
        </p:spPr>
        <p:txBody>
          <a:bodyPr wrap="square">
            <a:spAutoFit/>
          </a:bodyPr>
          <a:lstStyle/>
          <a:p>
            <a:r>
              <a:rPr lang="en-GB"/>
              <a:t>4</a:t>
            </a:r>
            <a:r>
              <a:rPr lang="en-US"/>
              <a:t>. Expected outcomes and deliverables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11" name="TextBox 10">
            <a:extLst>
              <a:ext uri="{FF2B5EF4-FFF2-40B4-BE49-F238E27FC236}">
                <a16:creationId xmlns:a16="http://schemas.microsoft.com/office/drawing/2014/main" id="{25BCEA21-A24B-F078-83EB-5260C5EFCD21}"/>
              </a:ext>
            </a:extLst>
          </p:cNvPr>
          <p:cNvSpPr txBox="1"/>
          <p:nvPr/>
        </p:nvSpPr>
        <p:spPr>
          <a:xfrm>
            <a:off x="699452" y="1868581"/>
            <a:ext cx="6107206" cy="1200329"/>
          </a:xfrm>
          <a:prstGeom prst="rect">
            <a:avLst/>
          </a:prstGeom>
          <a:noFill/>
        </p:spPr>
        <p:txBody>
          <a:bodyPr wrap="square">
            <a:spAutoFit/>
          </a:bodyPr>
          <a:lstStyle/>
          <a:p>
            <a:r>
              <a:rPr lang="en-US"/>
              <a:t>End users are the individuals or groups who will ultimately use the product, service, or solution being developed. They are the ones who will interact with the system, tool, or application to achieve their goals or tasks.</a:t>
            </a:r>
          </a:p>
        </p:txBody>
      </p:sp>
      <p:sp>
        <p:nvSpPr>
          <p:cNvPr id="13" name="TextBox 12">
            <a:extLst>
              <a:ext uri="{FF2B5EF4-FFF2-40B4-BE49-F238E27FC236}">
                <a16:creationId xmlns:a16="http://schemas.microsoft.com/office/drawing/2014/main" id="{D93DEBC6-724F-AB7C-1F08-E7DD487EF36D}"/>
              </a:ext>
            </a:extLst>
          </p:cNvPr>
          <p:cNvSpPr txBox="1"/>
          <p:nvPr/>
        </p:nvSpPr>
        <p:spPr>
          <a:xfrm>
            <a:off x="588869" y="3244334"/>
            <a:ext cx="6107206" cy="369332"/>
          </a:xfrm>
          <a:prstGeom prst="rect">
            <a:avLst/>
          </a:prstGeom>
          <a:noFill/>
        </p:spPr>
        <p:txBody>
          <a:bodyPr wrap="square">
            <a:spAutoFit/>
          </a:bodyPr>
          <a:lstStyle/>
          <a:p>
            <a:r>
              <a:rPr lang="en-GB" b="1"/>
              <a:t>EXAMPLES</a:t>
            </a:r>
            <a:r>
              <a:rPr lang="en-US" b="1"/>
              <a:t> </a:t>
            </a:r>
            <a:r>
              <a:rPr lang="en-GB" b="1"/>
              <a:t>OF</a:t>
            </a:r>
            <a:r>
              <a:rPr lang="en-US" b="1"/>
              <a:t> </a:t>
            </a:r>
            <a:r>
              <a:rPr lang="en-GB" b="1"/>
              <a:t>END USERS INCLUDE</a:t>
            </a:r>
            <a:r>
              <a:rPr lang="en-US" b="1"/>
              <a:t>:</a:t>
            </a:r>
          </a:p>
        </p:txBody>
      </p:sp>
      <p:sp>
        <p:nvSpPr>
          <p:cNvPr id="15" name="TextBox 14">
            <a:extLst>
              <a:ext uri="{FF2B5EF4-FFF2-40B4-BE49-F238E27FC236}">
                <a16:creationId xmlns:a16="http://schemas.microsoft.com/office/drawing/2014/main" id="{B06E8D6C-1163-4A52-0733-5CEB334A9691}"/>
              </a:ext>
            </a:extLst>
          </p:cNvPr>
          <p:cNvSpPr txBox="1"/>
          <p:nvPr/>
        </p:nvSpPr>
        <p:spPr>
          <a:xfrm>
            <a:off x="588869" y="3599154"/>
            <a:ext cx="6107206" cy="369332"/>
          </a:xfrm>
          <a:prstGeom prst="rect">
            <a:avLst/>
          </a:prstGeom>
          <a:noFill/>
        </p:spPr>
        <p:txBody>
          <a:bodyPr wrap="square">
            <a:spAutoFit/>
          </a:bodyPr>
          <a:lstStyle/>
          <a:p>
            <a:r>
              <a:rPr lang="en-GB"/>
              <a:t>1.</a:t>
            </a:r>
            <a:r>
              <a:rPr lang="en-US"/>
              <a:t> Customers</a:t>
            </a:r>
          </a:p>
        </p:txBody>
      </p:sp>
      <p:sp>
        <p:nvSpPr>
          <p:cNvPr id="17" name="TextBox 16">
            <a:extLst>
              <a:ext uri="{FF2B5EF4-FFF2-40B4-BE49-F238E27FC236}">
                <a16:creationId xmlns:a16="http://schemas.microsoft.com/office/drawing/2014/main" id="{F11BA582-C250-FAF5-72FA-E7BFDC67709F}"/>
              </a:ext>
            </a:extLst>
          </p:cNvPr>
          <p:cNvSpPr txBox="1"/>
          <p:nvPr/>
        </p:nvSpPr>
        <p:spPr>
          <a:xfrm>
            <a:off x="588869" y="3853682"/>
            <a:ext cx="6107206" cy="369332"/>
          </a:xfrm>
          <a:prstGeom prst="rect">
            <a:avLst/>
          </a:prstGeom>
          <a:noFill/>
        </p:spPr>
        <p:txBody>
          <a:bodyPr wrap="square">
            <a:spAutoFit/>
          </a:bodyPr>
          <a:lstStyle/>
          <a:p>
            <a:r>
              <a:rPr lang="en-GB"/>
              <a:t>2.</a:t>
            </a:r>
            <a:r>
              <a:rPr lang="en-US"/>
              <a:t>Employees</a:t>
            </a:r>
          </a:p>
        </p:txBody>
      </p:sp>
      <p:sp>
        <p:nvSpPr>
          <p:cNvPr id="19" name="TextBox 18">
            <a:extLst>
              <a:ext uri="{FF2B5EF4-FFF2-40B4-BE49-F238E27FC236}">
                <a16:creationId xmlns:a16="http://schemas.microsoft.com/office/drawing/2014/main" id="{19F53E4A-503A-DBDF-CA18-AD090537DF8A}"/>
              </a:ext>
            </a:extLst>
          </p:cNvPr>
          <p:cNvSpPr txBox="1"/>
          <p:nvPr/>
        </p:nvSpPr>
        <p:spPr>
          <a:xfrm>
            <a:off x="588869" y="4093698"/>
            <a:ext cx="6107206" cy="369332"/>
          </a:xfrm>
          <a:prstGeom prst="rect">
            <a:avLst/>
          </a:prstGeom>
          <a:noFill/>
        </p:spPr>
        <p:txBody>
          <a:bodyPr wrap="square">
            <a:spAutoFit/>
          </a:bodyPr>
          <a:lstStyle/>
          <a:p>
            <a:r>
              <a:rPr lang="en-GB"/>
              <a:t>3.</a:t>
            </a:r>
            <a:r>
              <a:rPr lang="en-US"/>
              <a:t>Students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0" name="TextBox 9">
            <a:extLst>
              <a:ext uri="{FF2B5EF4-FFF2-40B4-BE49-F238E27FC236}">
                <a16:creationId xmlns:a16="http://schemas.microsoft.com/office/drawing/2014/main" id="{33E7C35F-2297-FABA-F1EE-5D4BB96F1447}"/>
              </a:ext>
            </a:extLst>
          </p:cNvPr>
          <p:cNvSpPr txBox="1"/>
          <p:nvPr/>
        </p:nvSpPr>
        <p:spPr>
          <a:xfrm>
            <a:off x="2819400" y="2149841"/>
            <a:ext cx="6107206" cy="1200329"/>
          </a:xfrm>
          <a:prstGeom prst="rect">
            <a:avLst/>
          </a:prstGeom>
          <a:noFill/>
        </p:spPr>
        <p:txBody>
          <a:bodyPr wrap="square">
            <a:spAutoFit/>
          </a:bodyPr>
          <a:lstStyle/>
          <a:p>
            <a:r>
              <a:rPr lang="en-US"/>
              <a:t>Our solution is a [briefly describe the solution, e.g., "cloud-based customer relationship management (CRM) system"], designed to [primary goal, e.g., "streamline sales processes and enhance customer engagement"].</a:t>
            </a:r>
          </a:p>
        </p:txBody>
      </p:sp>
      <p:sp>
        <p:nvSpPr>
          <p:cNvPr id="12" name="TextBox 11">
            <a:extLst>
              <a:ext uri="{FF2B5EF4-FFF2-40B4-BE49-F238E27FC236}">
                <a16:creationId xmlns:a16="http://schemas.microsoft.com/office/drawing/2014/main" id="{D24D11FF-6B2F-16D2-562C-3146A346AC12}"/>
              </a:ext>
            </a:extLst>
          </p:cNvPr>
          <p:cNvSpPr txBox="1"/>
          <p:nvPr/>
        </p:nvSpPr>
        <p:spPr>
          <a:xfrm>
            <a:off x="2819400" y="3577709"/>
            <a:ext cx="6107206" cy="369332"/>
          </a:xfrm>
          <a:prstGeom prst="rect">
            <a:avLst/>
          </a:prstGeom>
          <a:noFill/>
        </p:spPr>
        <p:txBody>
          <a:bodyPr wrap="square">
            <a:spAutoFit/>
          </a:bodyPr>
          <a:lstStyle/>
          <a:p>
            <a:r>
              <a:rPr lang="en-GB" b="1"/>
              <a:t>VALUE</a:t>
            </a:r>
            <a:r>
              <a:rPr lang="en-US" b="1"/>
              <a:t> </a:t>
            </a:r>
            <a:r>
              <a:rPr lang="en-GB" b="1"/>
              <a:t>PROPOSITION</a:t>
            </a:r>
            <a:r>
              <a:rPr lang="en-US" b="1"/>
              <a:t>:</a:t>
            </a:r>
          </a:p>
        </p:txBody>
      </p:sp>
      <p:sp>
        <p:nvSpPr>
          <p:cNvPr id="16" name="TextBox 15">
            <a:extLst>
              <a:ext uri="{FF2B5EF4-FFF2-40B4-BE49-F238E27FC236}">
                <a16:creationId xmlns:a16="http://schemas.microsoft.com/office/drawing/2014/main" id="{44C1F2E0-0ABD-EBBD-4FFE-AFD6DBD7D657}"/>
              </a:ext>
            </a:extLst>
          </p:cNvPr>
          <p:cNvSpPr txBox="1"/>
          <p:nvPr/>
        </p:nvSpPr>
        <p:spPr>
          <a:xfrm>
            <a:off x="2819400" y="3974729"/>
            <a:ext cx="6107206" cy="646331"/>
          </a:xfrm>
          <a:prstGeom prst="rect">
            <a:avLst/>
          </a:prstGeom>
          <a:noFill/>
        </p:spPr>
        <p:txBody>
          <a:bodyPr wrap="square">
            <a:spAutoFit/>
          </a:bodyPr>
          <a:lstStyle/>
          <a:p>
            <a:r>
              <a:rPr lang="en-US"/>
              <a:t>1. *Improved Efficiency*: Automate routine tasks, simplify workflows, and reduce manual errors.</a:t>
            </a:r>
          </a:p>
        </p:txBody>
      </p:sp>
      <p:sp>
        <p:nvSpPr>
          <p:cNvPr id="18" name="TextBox 17">
            <a:extLst>
              <a:ext uri="{FF2B5EF4-FFF2-40B4-BE49-F238E27FC236}">
                <a16:creationId xmlns:a16="http://schemas.microsoft.com/office/drawing/2014/main" id="{F4349BDD-9CC9-1F97-3A00-5B2CC4FB50B9}"/>
              </a:ext>
            </a:extLst>
          </p:cNvPr>
          <p:cNvSpPr txBox="1"/>
          <p:nvPr/>
        </p:nvSpPr>
        <p:spPr>
          <a:xfrm>
            <a:off x="2819400" y="4550254"/>
            <a:ext cx="6107206" cy="646331"/>
          </a:xfrm>
          <a:prstGeom prst="rect">
            <a:avLst/>
          </a:prstGeom>
          <a:noFill/>
        </p:spPr>
        <p:txBody>
          <a:bodyPr wrap="square">
            <a:spAutoFit/>
          </a:bodyPr>
          <a:lstStyle/>
          <a:p>
            <a:r>
              <a:rPr lang="en-US"/>
              <a:t>2. *Enhanced Customer Insights*: Gain a 360-degree view of customer interactions, preferences, and behaviors.</a:t>
            </a:r>
          </a:p>
        </p:txBody>
      </p:sp>
      <p:sp>
        <p:nvSpPr>
          <p:cNvPr id="20" name="TextBox 19">
            <a:extLst>
              <a:ext uri="{FF2B5EF4-FFF2-40B4-BE49-F238E27FC236}">
                <a16:creationId xmlns:a16="http://schemas.microsoft.com/office/drawing/2014/main" id="{B9993B58-CFAA-DCB6-AE83-9DF2D4822D6F}"/>
              </a:ext>
            </a:extLst>
          </p:cNvPr>
          <p:cNvSpPr txBox="1"/>
          <p:nvPr/>
        </p:nvSpPr>
        <p:spPr>
          <a:xfrm>
            <a:off x="2819400" y="5093245"/>
            <a:ext cx="6107206" cy="646331"/>
          </a:xfrm>
          <a:prstGeom prst="rect">
            <a:avLst/>
          </a:prstGeom>
          <a:noFill/>
        </p:spPr>
        <p:txBody>
          <a:bodyPr wrap="square">
            <a:spAutoFit/>
          </a:bodyPr>
          <a:lstStyle/>
          <a:p>
            <a:r>
              <a:rPr lang="en-US"/>
              <a:t>3. *Increased Productivity*: Access real-time data, prioritize tasks, and make data-driven decisions.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Dataset Description</a:t>
            </a:r>
          </a:p>
        </p:txBody>
      </p:sp>
      <p:sp>
        <p:nvSpPr>
          <p:cNvPr id="6" name="TextBox 5">
            <a:extLst>
              <a:ext uri="{FF2B5EF4-FFF2-40B4-BE49-F238E27FC236}">
                <a16:creationId xmlns:a16="http://schemas.microsoft.com/office/drawing/2014/main" id="{7F33625A-EC07-A411-546E-BC4CF0653F6E}"/>
              </a:ext>
            </a:extLst>
          </p:cNvPr>
          <p:cNvSpPr txBox="1"/>
          <p:nvPr/>
        </p:nvSpPr>
        <p:spPr>
          <a:xfrm>
            <a:off x="755332" y="1293922"/>
            <a:ext cx="6107206" cy="923330"/>
          </a:xfrm>
          <a:prstGeom prst="rect">
            <a:avLst/>
          </a:prstGeom>
          <a:noFill/>
        </p:spPr>
        <p:txBody>
          <a:bodyPr wrap="square">
            <a:spAutoFit/>
          </a:bodyPr>
          <a:lstStyle/>
          <a:p>
            <a:r>
              <a:rPr lang="en-US"/>
              <a:t>A dataset description provides an overview of the data used in a project, including its characteristics, structure, and content. Here's a general outline:</a:t>
            </a:r>
          </a:p>
        </p:txBody>
      </p:sp>
      <p:sp>
        <p:nvSpPr>
          <p:cNvPr id="8" name="TextBox 7">
            <a:extLst>
              <a:ext uri="{FF2B5EF4-FFF2-40B4-BE49-F238E27FC236}">
                <a16:creationId xmlns:a16="http://schemas.microsoft.com/office/drawing/2014/main" id="{077AD44E-FC2A-5E9B-396A-42AEFC46A2C4}"/>
              </a:ext>
            </a:extLst>
          </p:cNvPr>
          <p:cNvSpPr txBox="1"/>
          <p:nvPr/>
        </p:nvSpPr>
        <p:spPr>
          <a:xfrm>
            <a:off x="364191" y="2419198"/>
            <a:ext cx="6107206" cy="369332"/>
          </a:xfrm>
          <a:prstGeom prst="rect">
            <a:avLst/>
          </a:prstGeom>
          <a:noFill/>
        </p:spPr>
        <p:txBody>
          <a:bodyPr wrap="square">
            <a:spAutoFit/>
          </a:bodyPr>
          <a:lstStyle/>
          <a:p>
            <a:r>
              <a:rPr lang="en-US"/>
              <a:t>1. *Dataset Name*: [Name of the dataset]</a:t>
            </a:r>
          </a:p>
        </p:txBody>
      </p:sp>
      <p:sp>
        <p:nvSpPr>
          <p:cNvPr id="10" name="TextBox 9">
            <a:extLst>
              <a:ext uri="{FF2B5EF4-FFF2-40B4-BE49-F238E27FC236}">
                <a16:creationId xmlns:a16="http://schemas.microsoft.com/office/drawing/2014/main" id="{A59FA408-C776-479A-0DF4-218EDDEF1B37}"/>
              </a:ext>
            </a:extLst>
          </p:cNvPr>
          <p:cNvSpPr txBox="1"/>
          <p:nvPr/>
        </p:nvSpPr>
        <p:spPr>
          <a:xfrm>
            <a:off x="364191" y="2846485"/>
            <a:ext cx="6107206" cy="646331"/>
          </a:xfrm>
          <a:prstGeom prst="rect">
            <a:avLst/>
          </a:prstGeom>
          <a:noFill/>
        </p:spPr>
        <p:txBody>
          <a:bodyPr wrap="square">
            <a:spAutoFit/>
          </a:bodyPr>
          <a:lstStyle/>
          <a:p>
            <a:r>
              <a:rPr lang="en-US"/>
              <a:t>2. *Description*: Brief summary of the dataset's purpose and</a:t>
            </a:r>
            <a:endParaRPr lang="en-GB"/>
          </a:p>
          <a:p>
            <a:r>
              <a:rPr lang="en-GB"/>
              <a:t>      content.</a:t>
            </a:r>
            <a:endParaRPr lang="en-US"/>
          </a:p>
        </p:txBody>
      </p:sp>
      <p:sp>
        <p:nvSpPr>
          <p:cNvPr id="12" name="TextBox 11">
            <a:extLst>
              <a:ext uri="{FF2B5EF4-FFF2-40B4-BE49-F238E27FC236}">
                <a16:creationId xmlns:a16="http://schemas.microsoft.com/office/drawing/2014/main" id="{E62E3D3A-068E-50AF-49B7-93ED3F36AFDF}"/>
              </a:ext>
            </a:extLst>
          </p:cNvPr>
          <p:cNvSpPr txBox="1"/>
          <p:nvPr/>
        </p:nvSpPr>
        <p:spPr>
          <a:xfrm>
            <a:off x="364191" y="3550771"/>
            <a:ext cx="6107206" cy="646331"/>
          </a:xfrm>
          <a:prstGeom prst="rect">
            <a:avLst/>
          </a:prstGeom>
          <a:noFill/>
        </p:spPr>
        <p:txBody>
          <a:bodyPr wrap="square">
            <a:spAutoFit/>
          </a:bodyPr>
          <a:lstStyle/>
          <a:p>
            <a:r>
              <a:rPr lang="en-US"/>
              <a:t>3. *Source*: Origin of the data (e.g., surveys, sensors, </a:t>
            </a:r>
            <a:r>
              <a:rPr lang="en-GB"/>
              <a:t>       </a:t>
            </a:r>
          </a:p>
          <a:p>
            <a:r>
              <a:rPr lang="en-GB"/>
              <a:t>      database)</a:t>
            </a:r>
            <a:endParaRPr lang="en-US"/>
          </a:p>
        </p:txBody>
      </p:sp>
      <p:sp>
        <p:nvSpPr>
          <p:cNvPr id="14" name="TextBox 13">
            <a:extLst>
              <a:ext uri="{FF2B5EF4-FFF2-40B4-BE49-F238E27FC236}">
                <a16:creationId xmlns:a16="http://schemas.microsoft.com/office/drawing/2014/main" id="{6C67855D-1153-2E9B-31D4-A011045EA3E5}"/>
              </a:ext>
            </a:extLst>
          </p:cNvPr>
          <p:cNvSpPr txBox="1"/>
          <p:nvPr/>
        </p:nvSpPr>
        <p:spPr>
          <a:xfrm>
            <a:off x="364191" y="4255057"/>
            <a:ext cx="6105768" cy="646331"/>
          </a:xfrm>
          <a:prstGeom prst="rect">
            <a:avLst/>
          </a:prstGeom>
          <a:noFill/>
        </p:spPr>
        <p:txBody>
          <a:bodyPr wrap="square">
            <a:spAutoFit/>
          </a:bodyPr>
          <a:lstStyle/>
          <a:p>
            <a:r>
              <a:rPr lang="en-US"/>
              <a:t>4. *Data Types*: Types of data included (e.g., numerical, </a:t>
            </a:r>
            <a:r>
              <a:rPr lang="en-GB"/>
              <a:t>   </a:t>
            </a:r>
          </a:p>
          <a:p>
            <a:r>
              <a:rPr lang="en-GB"/>
              <a:t>      categ</a:t>
            </a:r>
            <a:r>
              <a:rPr lang="en-US"/>
              <a:t>orical, text).</a:t>
            </a:r>
          </a:p>
        </p:txBody>
      </p:sp>
      <p:sp>
        <p:nvSpPr>
          <p:cNvPr id="16" name="TextBox 15">
            <a:extLst>
              <a:ext uri="{FF2B5EF4-FFF2-40B4-BE49-F238E27FC236}">
                <a16:creationId xmlns:a16="http://schemas.microsoft.com/office/drawing/2014/main" id="{41C53626-417A-EA68-201F-AB322CB0E934}"/>
              </a:ext>
            </a:extLst>
          </p:cNvPr>
          <p:cNvSpPr txBox="1"/>
          <p:nvPr/>
        </p:nvSpPr>
        <p:spPr>
          <a:xfrm>
            <a:off x="364191" y="4959343"/>
            <a:ext cx="6107206" cy="369332"/>
          </a:xfrm>
          <a:prstGeom prst="rect">
            <a:avLst/>
          </a:prstGeom>
          <a:noFill/>
        </p:spPr>
        <p:txBody>
          <a:bodyPr wrap="square">
            <a:spAutoFit/>
          </a:bodyPr>
          <a:lstStyle/>
          <a:p>
            <a:r>
              <a:rPr lang="en-US"/>
              <a:t>5. *Variables*: List of variables or features in the dataset.</a:t>
            </a:r>
          </a:p>
        </p:txBody>
      </p:sp>
    </p:spTree>
    <p:extLst>
      <p:ext uri="{BB962C8B-B14F-4D97-AF65-F5344CB8AC3E}">
        <p14:creationId xmlns:p14="http://schemas.microsoft.com/office/powerpoint/2010/main" val="27206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2743200" y="2389116"/>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4B654E6-7415-825C-F4D5-E283A3F6E81F}"/>
              </a:ext>
            </a:extLst>
          </p:cNvPr>
          <p:cNvSpPr txBox="1"/>
          <p:nvPr/>
        </p:nvSpPr>
        <p:spPr>
          <a:xfrm>
            <a:off x="752475" y="1882453"/>
            <a:ext cx="6107206" cy="1200329"/>
          </a:xfrm>
          <a:prstGeom prst="rect">
            <a:avLst/>
          </a:prstGeom>
          <a:noFill/>
        </p:spPr>
        <p:txBody>
          <a:bodyPr wrap="square">
            <a:spAutoFit/>
          </a:bodyPr>
          <a:lstStyle/>
          <a:p>
            <a:r>
              <a:rPr lang="en-US"/>
              <a:t>The "wow" in our solution refers to the unique, innovative, or impressive aspects that set it apart from others, evoking a sense of amazement, surprise, or excitement. Here are some possible "wow" factors in our solution:</a:t>
            </a:r>
          </a:p>
        </p:txBody>
      </p:sp>
      <p:sp>
        <p:nvSpPr>
          <p:cNvPr id="13" name="TextBox 12">
            <a:extLst>
              <a:ext uri="{FF2B5EF4-FFF2-40B4-BE49-F238E27FC236}">
                <a16:creationId xmlns:a16="http://schemas.microsoft.com/office/drawing/2014/main" id="{EDF99944-F1A2-DF8C-C3BD-BEF562668572}"/>
              </a:ext>
            </a:extLst>
          </p:cNvPr>
          <p:cNvSpPr txBox="1"/>
          <p:nvPr/>
        </p:nvSpPr>
        <p:spPr>
          <a:xfrm>
            <a:off x="3021666" y="3343707"/>
            <a:ext cx="6107206" cy="369332"/>
          </a:xfrm>
          <a:prstGeom prst="rect">
            <a:avLst/>
          </a:prstGeom>
          <a:noFill/>
        </p:spPr>
        <p:txBody>
          <a:bodyPr wrap="square">
            <a:spAutoFit/>
          </a:bodyPr>
          <a:lstStyle/>
          <a:p>
            <a:r>
              <a:rPr lang="en-US"/>
              <a:t>1.AI-powered insights:</a:t>
            </a:r>
          </a:p>
        </p:txBody>
      </p:sp>
      <p:sp>
        <p:nvSpPr>
          <p:cNvPr id="15" name="TextBox 14">
            <a:extLst>
              <a:ext uri="{FF2B5EF4-FFF2-40B4-BE49-F238E27FC236}">
                <a16:creationId xmlns:a16="http://schemas.microsoft.com/office/drawing/2014/main" id="{B8DB4D6E-15F1-BCC5-FF48-8C4B7E4F7F09}"/>
              </a:ext>
            </a:extLst>
          </p:cNvPr>
          <p:cNvSpPr txBox="1"/>
          <p:nvPr/>
        </p:nvSpPr>
        <p:spPr>
          <a:xfrm>
            <a:off x="3246344" y="3574331"/>
            <a:ext cx="6107206" cy="646331"/>
          </a:xfrm>
          <a:prstGeom prst="rect">
            <a:avLst/>
          </a:prstGeom>
          <a:noFill/>
        </p:spPr>
        <p:txBody>
          <a:bodyPr wrap="square">
            <a:spAutoFit/>
          </a:bodyPr>
          <a:lstStyle/>
          <a:p>
            <a:r>
              <a:rPr lang="en-US"/>
              <a:t>Advanced analytics and machine learning capabilities that provide unprecedented visibility and understanding.</a:t>
            </a:r>
          </a:p>
        </p:txBody>
      </p:sp>
      <p:sp>
        <p:nvSpPr>
          <p:cNvPr id="17" name="TextBox 16">
            <a:extLst>
              <a:ext uri="{FF2B5EF4-FFF2-40B4-BE49-F238E27FC236}">
                <a16:creationId xmlns:a16="http://schemas.microsoft.com/office/drawing/2014/main" id="{C8A7E9E3-D89D-5D17-D06C-1F9216F05AFF}"/>
              </a:ext>
            </a:extLst>
          </p:cNvPr>
          <p:cNvSpPr txBox="1"/>
          <p:nvPr/>
        </p:nvSpPr>
        <p:spPr>
          <a:xfrm>
            <a:off x="3042397" y="4406705"/>
            <a:ext cx="6107206" cy="369332"/>
          </a:xfrm>
          <a:prstGeom prst="rect">
            <a:avLst/>
          </a:prstGeom>
          <a:noFill/>
        </p:spPr>
        <p:txBody>
          <a:bodyPr wrap="square">
            <a:spAutoFit/>
          </a:bodyPr>
          <a:lstStyle/>
          <a:p>
            <a:r>
              <a:rPr lang="en-US"/>
              <a:t>2.Seamless integration:</a:t>
            </a:r>
          </a:p>
        </p:txBody>
      </p:sp>
      <p:sp>
        <p:nvSpPr>
          <p:cNvPr id="19" name="TextBox 18">
            <a:extLst>
              <a:ext uri="{FF2B5EF4-FFF2-40B4-BE49-F238E27FC236}">
                <a16:creationId xmlns:a16="http://schemas.microsoft.com/office/drawing/2014/main" id="{A7D48186-783A-CC99-CA58-BBE11666A91E}"/>
              </a:ext>
            </a:extLst>
          </p:cNvPr>
          <p:cNvSpPr txBox="1"/>
          <p:nvPr/>
        </p:nvSpPr>
        <p:spPr>
          <a:xfrm>
            <a:off x="3336831" y="4640044"/>
            <a:ext cx="6107206" cy="646331"/>
          </a:xfrm>
          <a:prstGeom prst="rect">
            <a:avLst/>
          </a:prstGeom>
          <a:noFill/>
        </p:spPr>
        <p:txBody>
          <a:bodyPr wrap="square">
            <a:spAutoFit/>
          </a:bodyPr>
          <a:lstStyle/>
          <a:p>
            <a:r>
              <a:rPr lang="en-US"/>
              <a:t>Effortless connectivity with existing systems, tools, and platforms, enabling a unified experience.</a:t>
            </a:r>
          </a:p>
        </p:txBody>
      </p:sp>
      <p:sp>
        <p:nvSpPr>
          <p:cNvPr id="21" name="TextBox 20">
            <a:extLst>
              <a:ext uri="{FF2B5EF4-FFF2-40B4-BE49-F238E27FC236}">
                <a16:creationId xmlns:a16="http://schemas.microsoft.com/office/drawing/2014/main" id="{A6697B53-F968-4D92-BD42-FE21218F3C3B}"/>
              </a:ext>
            </a:extLst>
          </p:cNvPr>
          <p:cNvSpPr txBox="1"/>
          <p:nvPr/>
        </p:nvSpPr>
        <p:spPr>
          <a:xfrm>
            <a:off x="3112994" y="5450443"/>
            <a:ext cx="6107206" cy="369332"/>
          </a:xfrm>
          <a:prstGeom prst="rect">
            <a:avLst/>
          </a:prstGeom>
          <a:noFill/>
        </p:spPr>
        <p:txBody>
          <a:bodyPr wrap="square">
            <a:spAutoFit/>
          </a:bodyPr>
          <a:lstStyle/>
          <a:p>
            <a:r>
              <a:rPr lang="en-US"/>
              <a:t>3.Intuitive interface:</a:t>
            </a:r>
          </a:p>
        </p:txBody>
      </p:sp>
      <p:sp>
        <p:nvSpPr>
          <p:cNvPr id="23" name="TextBox 22">
            <a:extLst>
              <a:ext uri="{FF2B5EF4-FFF2-40B4-BE49-F238E27FC236}">
                <a16:creationId xmlns:a16="http://schemas.microsoft.com/office/drawing/2014/main" id="{DD5293D8-A94C-0DF4-CF84-82A58441D797}"/>
              </a:ext>
            </a:extLst>
          </p:cNvPr>
          <p:cNvSpPr txBox="1"/>
          <p:nvPr/>
        </p:nvSpPr>
        <p:spPr>
          <a:xfrm>
            <a:off x="3246344" y="5705757"/>
            <a:ext cx="6107206" cy="646331"/>
          </a:xfrm>
          <a:prstGeom prst="rect">
            <a:avLst/>
          </a:prstGeom>
          <a:noFill/>
        </p:spPr>
        <p:txBody>
          <a:bodyPr wrap="square">
            <a:spAutoFit/>
          </a:bodyPr>
          <a:lstStyle/>
          <a:p>
            <a:r>
              <a:rPr lang="en-US"/>
              <a:t>User-friendly design, simplicity, and ease of use, making it accessible to a broad audience.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TextBox 2">
            <a:extLst>
              <a:ext uri="{FF2B5EF4-FFF2-40B4-BE49-F238E27FC236}">
                <a16:creationId xmlns:a16="http://schemas.microsoft.com/office/drawing/2014/main" id="{F0A7A748-8F05-5208-A0C2-3C27405BEBBE}"/>
              </a:ext>
            </a:extLst>
          </p:cNvPr>
          <p:cNvSpPr txBox="1"/>
          <p:nvPr/>
        </p:nvSpPr>
        <p:spPr>
          <a:xfrm>
            <a:off x="739775" y="1480687"/>
            <a:ext cx="6107206" cy="923330"/>
          </a:xfrm>
          <a:prstGeom prst="rect">
            <a:avLst/>
          </a:prstGeom>
          <a:noFill/>
        </p:spPr>
        <p:txBody>
          <a:bodyPr wrap="square">
            <a:spAutoFit/>
          </a:bodyPr>
          <a:lstStyle/>
          <a:p>
            <a:r>
              <a:rPr lang="en-US"/>
              <a:t>Modelling refers to the process of creating a representation or simulation of a system, process, or scenario to analyze, predict, or optimize its behavior. In the context of our solution,</a:t>
            </a:r>
          </a:p>
        </p:txBody>
      </p:sp>
      <p:sp>
        <p:nvSpPr>
          <p:cNvPr id="11" name="TextBox 10">
            <a:extLst>
              <a:ext uri="{FF2B5EF4-FFF2-40B4-BE49-F238E27FC236}">
                <a16:creationId xmlns:a16="http://schemas.microsoft.com/office/drawing/2014/main" id="{2AF7A23C-C01A-7FEB-7378-FF3C8E1FE42E}"/>
              </a:ext>
            </a:extLst>
          </p:cNvPr>
          <p:cNvSpPr txBox="1"/>
          <p:nvPr/>
        </p:nvSpPr>
        <p:spPr>
          <a:xfrm>
            <a:off x="739775" y="2896400"/>
            <a:ext cx="6107206" cy="369332"/>
          </a:xfrm>
          <a:prstGeom prst="rect">
            <a:avLst/>
          </a:prstGeom>
          <a:noFill/>
        </p:spPr>
        <p:txBody>
          <a:bodyPr wrap="square">
            <a:spAutoFit/>
          </a:bodyPr>
          <a:lstStyle/>
          <a:p>
            <a:r>
              <a:rPr lang="en-GB" b="1"/>
              <a:t>MODELLING CAN HELP US:</a:t>
            </a:r>
            <a:endParaRPr lang="en-US" b="1"/>
          </a:p>
        </p:txBody>
      </p:sp>
      <p:sp>
        <p:nvSpPr>
          <p:cNvPr id="13" name="TextBox 12">
            <a:extLst>
              <a:ext uri="{FF2B5EF4-FFF2-40B4-BE49-F238E27FC236}">
                <a16:creationId xmlns:a16="http://schemas.microsoft.com/office/drawing/2014/main" id="{8874FD04-11C1-165A-174C-C158A3CE09D8}"/>
              </a:ext>
            </a:extLst>
          </p:cNvPr>
          <p:cNvSpPr txBox="1"/>
          <p:nvPr/>
        </p:nvSpPr>
        <p:spPr>
          <a:xfrm>
            <a:off x="739775" y="3552266"/>
            <a:ext cx="6107206" cy="369332"/>
          </a:xfrm>
          <a:prstGeom prst="rect">
            <a:avLst/>
          </a:prstGeom>
          <a:noFill/>
        </p:spPr>
        <p:txBody>
          <a:bodyPr wrap="square">
            <a:spAutoFit/>
          </a:bodyPr>
          <a:lstStyle/>
          <a:p>
            <a:r>
              <a:rPr lang="en-US"/>
              <a:t>1. </a:t>
            </a:r>
            <a:r>
              <a:rPr lang="en-GB"/>
              <a:t>S</a:t>
            </a:r>
            <a:r>
              <a:rPr lang="en-US"/>
              <a:t>implify complex systems</a:t>
            </a:r>
          </a:p>
        </p:txBody>
      </p:sp>
      <p:sp>
        <p:nvSpPr>
          <p:cNvPr id="16" name="TextBox 15">
            <a:extLst>
              <a:ext uri="{FF2B5EF4-FFF2-40B4-BE49-F238E27FC236}">
                <a16:creationId xmlns:a16="http://schemas.microsoft.com/office/drawing/2014/main" id="{88DD07BE-5766-3221-32DD-DA4392CA3CB2}"/>
              </a:ext>
            </a:extLst>
          </p:cNvPr>
          <p:cNvSpPr txBox="1"/>
          <p:nvPr/>
        </p:nvSpPr>
        <p:spPr>
          <a:xfrm>
            <a:off x="739775" y="3900274"/>
            <a:ext cx="6107206" cy="369332"/>
          </a:xfrm>
          <a:prstGeom prst="rect">
            <a:avLst/>
          </a:prstGeom>
          <a:noFill/>
        </p:spPr>
        <p:txBody>
          <a:bodyPr wrap="square">
            <a:spAutoFit/>
          </a:bodyPr>
          <a:lstStyle/>
          <a:p>
            <a:r>
              <a:rPr lang="en-US"/>
              <a:t>2. Identify potential issues</a:t>
            </a:r>
          </a:p>
        </p:txBody>
      </p:sp>
      <p:sp>
        <p:nvSpPr>
          <p:cNvPr id="18" name="TextBox 17">
            <a:extLst>
              <a:ext uri="{FF2B5EF4-FFF2-40B4-BE49-F238E27FC236}">
                <a16:creationId xmlns:a16="http://schemas.microsoft.com/office/drawing/2014/main" id="{09D2EF1C-0C50-666A-9564-9A8A5E4AAA14}"/>
              </a:ext>
            </a:extLst>
          </p:cNvPr>
          <p:cNvSpPr txBox="1"/>
          <p:nvPr/>
        </p:nvSpPr>
        <p:spPr>
          <a:xfrm>
            <a:off x="739775" y="4208132"/>
            <a:ext cx="6107206" cy="369332"/>
          </a:xfrm>
          <a:prstGeom prst="rect">
            <a:avLst/>
          </a:prstGeom>
          <a:noFill/>
        </p:spPr>
        <p:txBody>
          <a:bodyPr wrap="square">
            <a:spAutoFit/>
          </a:bodyPr>
          <a:lstStyle/>
          <a:p>
            <a:r>
              <a:rPr lang="en-US"/>
              <a:t>3. Test scenarios and hypotheses</a:t>
            </a:r>
          </a:p>
        </p:txBody>
      </p:sp>
      <p:sp>
        <p:nvSpPr>
          <p:cNvPr id="20" name="TextBox 19">
            <a:extLst>
              <a:ext uri="{FF2B5EF4-FFF2-40B4-BE49-F238E27FC236}">
                <a16:creationId xmlns:a16="http://schemas.microsoft.com/office/drawing/2014/main" id="{9CF4A7B8-7D47-06E6-FFAC-388B3980BD95}"/>
              </a:ext>
            </a:extLst>
          </p:cNvPr>
          <p:cNvSpPr txBox="1"/>
          <p:nvPr/>
        </p:nvSpPr>
        <p:spPr>
          <a:xfrm>
            <a:off x="739775" y="4556140"/>
            <a:ext cx="6107206" cy="369332"/>
          </a:xfrm>
          <a:prstGeom prst="rect">
            <a:avLst/>
          </a:prstGeom>
          <a:noFill/>
        </p:spPr>
        <p:txBody>
          <a:bodyPr wrap="square">
            <a:spAutoFit/>
          </a:bodyPr>
          <a:lstStyle/>
          <a:p>
            <a:r>
              <a:rPr lang="en-US"/>
              <a:t>4. Optimize performance</a:t>
            </a:r>
          </a:p>
        </p:txBody>
      </p:sp>
      <p:sp>
        <p:nvSpPr>
          <p:cNvPr id="22" name="TextBox 21">
            <a:extLst>
              <a:ext uri="{FF2B5EF4-FFF2-40B4-BE49-F238E27FC236}">
                <a16:creationId xmlns:a16="http://schemas.microsoft.com/office/drawing/2014/main" id="{8D605E93-AD0E-4775-254C-733211F636EE}"/>
              </a:ext>
            </a:extLst>
          </p:cNvPr>
          <p:cNvSpPr txBox="1"/>
          <p:nvPr/>
        </p:nvSpPr>
        <p:spPr>
          <a:xfrm>
            <a:off x="739775" y="4859678"/>
            <a:ext cx="6107206" cy="369332"/>
          </a:xfrm>
          <a:prstGeom prst="rect">
            <a:avLst/>
          </a:prstGeom>
          <a:noFill/>
        </p:spPr>
        <p:txBody>
          <a:bodyPr wrap="square">
            <a:spAutoFit/>
          </a:bodyPr>
          <a:lstStyle/>
          <a:p>
            <a:r>
              <a:rPr lang="en-US"/>
              <a:t>5. Inform data-driven decisions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5CB5B-BDD0-5A64-1A7C-37D3C88F8F9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49261A6-74CB-C798-FC38-11C291793603}"/>
              </a:ext>
            </a:extLst>
          </p:cNvPr>
          <p:cNvSpPr txBox="1"/>
          <p:nvPr/>
        </p:nvSpPr>
        <p:spPr>
          <a:xfrm>
            <a:off x="755332" y="1328340"/>
            <a:ext cx="6107206" cy="3693319"/>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r>
              <a:rPr lang="en-US"/>
              <a:t>In conclusion, our solution offers a comprehensive and innovative approach to [briefly describe the problem or opportunity]. By leveraging [key features or technologies], we provide a unique value proposition that addresses the needs of [target audience] and delivers [desired outcomes].Key takeaways:- [Summary of the solution's benefits]- [Unique selling points]- [Competitive advantage]Next steps:- [Proposed implementation plan]- [Timeline]- [Key milestones]By adopting our solution, [target audience] can expect to achieve [desired outcomes] and stay ahead in [industry/market]. We believe our solution has the potential to [broader impact] and contribute to [larger goals].If you have any further questions or would like to discuss our solution in more detail, please don't hesitate to ask!</a:t>
            </a:r>
          </a:p>
        </p:txBody>
      </p:sp>
    </p:spTree>
    <p:extLst>
      <p:ext uri="{BB962C8B-B14F-4D97-AF65-F5344CB8AC3E}">
        <p14:creationId xmlns:p14="http://schemas.microsoft.com/office/powerpoint/2010/main" val="2986442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178</TotalTime>
  <Words>90</Words>
  <Application>Microsoft Office PowerPoint</Application>
  <PresentationFormat>Widescreen</PresentationFormat>
  <Paragraphs>41</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THE "WOW" IN OUR SOLUTION</vt:lpstr>
      <vt:lpstr>PowerPoint Presentation</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Gopala Krishna</cp:lastModifiedBy>
  <cp:revision>14</cp:revision>
  <dcterms:created xsi:type="dcterms:W3CDTF">2024-03-29T15:07:22Z</dcterms:created>
  <dcterms:modified xsi:type="dcterms:W3CDTF">2024-09-09T06:27:39Z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